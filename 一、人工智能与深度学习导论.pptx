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307" r:id="rId3"/>
    <p:sldId id="318" r:id="rId4"/>
    <p:sldId id="317" r:id="rId5"/>
    <p:sldId id="308" r:id="rId6"/>
    <p:sldId id="319" r:id="rId7"/>
    <p:sldId id="320" r:id="rId8"/>
    <p:sldId id="321" r:id="rId9"/>
    <p:sldId id="322" r:id="rId10"/>
    <p:sldId id="323" r:id="rId11"/>
    <p:sldId id="324" r:id="rId12"/>
    <p:sldId id="326" r:id="rId13"/>
    <p:sldId id="327" r:id="rId14"/>
    <p:sldId id="328" r:id="rId15"/>
    <p:sldId id="325" r:id="rId16"/>
    <p:sldId id="329" r:id="rId17"/>
    <p:sldId id="311" r:id="rId18"/>
    <p:sldId id="330" r:id="rId19"/>
    <p:sldId id="331" r:id="rId20"/>
    <p:sldId id="334" r:id="rId21"/>
    <p:sldId id="332" r:id="rId22"/>
    <p:sldId id="335" r:id="rId23"/>
    <p:sldId id="344" r:id="rId24"/>
    <p:sldId id="333" r:id="rId25"/>
    <p:sldId id="336" r:id="rId26"/>
    <p:sldId id="338" r:id="rId27"/>
    <p:sldId id="337" r:id="rId28"/>
    <p:sldId id="340" r:id="rId29"/>
    <p:sldId id="341" r:id="rId30"/>
    <p:sldId id="339" r:id="rId31"/>
    <p:sldId id="346" r:id="rId32"/>
    <p:sldId id="34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2A17"/>
    <a:srgbClr val="FFFFFF"/>
    <a:srgbClr val="B32816"/>
    <a:srgbClr val="F2D7D3"/>
    <a:srgbClr val="E5A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11723" y="6053138"/>
            <a:ext cx="2999154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45692" y="6043613"/>
            <a:ext cx="9046308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3FDC7FB-3357-4FB2-9EF1-F098E9CC6D8C}" type="datetime1">
              <a:rPr lang="en-US"/>
            </a:fld>
            <a:endParaRPr lang="en-US" sz="2300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324" y="236538"/>
            <a:ext cx="7823200" cy="365125"/>
          </a:xfrm>
        </p:spPr>
        <p:txBody>
          <a:bodyPr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5287FDB-26C3-4826-A1CD-E7DEF6A3C879}" type="slidenum">
              <a:rPr lang="en-US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5"/>
          </a:xfrm>
        </p:spPr>
        <p:txBody>
          <a:bodyPr>
            <a:no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AA18535-8923-48D2-96C1-4CCA107768EF}" type="slidenum">
              <a:rPr lang="en-US"/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BB2F94E-C25C-4AC9-AF01-A1AE1D76C77F}" type="datetime1">
              <a:rPr lang="en-US"/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D02A2F-F75A-4CAA-BEB1-3BD76F5E60E2}" type="slidenum">
              <a:rPr lang="en-US"/>
            </a:fld>
            <a:endParaRPr lang="en-US" sz="1400" dirty="0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C6F465C-2946-4C83-9EBC-4407BE8115A5}" type="datetime1">
              <a:rPr lang="en-US"/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612FCD3-9B21-4486-9CEC-C8A0385A1B74}" type="slidenum">
              <a:rPr lang="en-US"/>
            </a:fld>
            <a:endParaRPr lang="en-US" sz="1400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529F22-FC04-4303-B243-7B236DDA2B04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5710CAD-7FAC-441D-A45B-006A4C96CDF1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1723" y="4572000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11723" y="4664075"/>
            <a:ext cx="1949938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61308" y="4654550"/>
            <a:ext cx="1013069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930400" y="0"/>
            <a:ext cx="134816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F0B4B5C-ED89-418A-80DE-1A149260DC95}" type="datetime1">
              <a:rPr lang="en-US"/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930400" cy="663575"/>
          </a:xfrm>
        </p:spPr>
        <p:txBody>
          <a:bodyPr rtlCol="0"/>
          <a:lstStyle>
            <a:lvl1pPr>
              <a:defRPr sz="3300"/>
            </a:lvl1pPr>
          </a:lstStyle>
          <a:p>
            <a:pPr>
              <a:defRPr/>
            </a:pPr>
            <a:fld id="{E95EFF5D-37A9-4B9E-A49A-9AB23935383E}" type="slidenum">
              <a:rPr lang="en-US"/>
            </a:fld>
            <a:endParaRPr lang="en-US" dirty="0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0"/>
            <a:ext cx="6096000" cy="365125"/>
          </a:xfrm>
        </p:spPr>
        <p:txBody>
          <a:bodyPr rtlCol="0"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3316D-E36B-4777-826B-9E0EA69A3AD6}" type="datetime1">
              <a:rPr lang="en-US"/>
            </a:fld>
            <a:endParaRPr lang="en-US" sz="1600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F9200-D086-4713-829E-D2CA2E6257AD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0" y="0"/>
            <a:ext cx="427893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88570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88570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0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2B347-D1C3-4F23-A1C6-FD31C8876D58}" type="datetime1">
              <a:rPr lang="en-US"/>
            </a:fld>
            <a:endParaRPr lang="en-US" sz="1600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743047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13701" y="134143"/>
            <a:ext cx="656492" cy="2651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EE8AB-4100-41CE-AA15-9587167747EA}" type="slidenum">
              <a:rPr lang="en-US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73193" y="254"/>
            <a:ext cx="10502901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844550" y="1231900"/>
            <a:ext cx="10502900" cy="4648200"/>
          </a:xfrm>
          <a:prstGeom prst="rect">
            <a:avLst/>
          </a:prstGeom>
        </p:spPr>
        <p:txBody>
          <a:bodyPr/>
          <a:lstStyle>
            <a:lvl1pPr>
              <a:defRPr sz="1950">
                <a:latin typeface="Avenir Book"/>
                <a:ea typeface="Avenir Book"/>
                <a:cs typeface="Avenir Book"/>
                <a:sym typeface="Avenir Book"/>
              </a:defRPr>
            </a:lvl1pPr>
            <a:lvl2pPr>
              <a:defRPr sz="1950">
                <a:latin typeface="Avenir Book"/>
                <a:ea typeface="Avenir Book"/>
                <a:cs typeface="Avenir Book"/>
                <a:sym typeface="Avenir Book"/>
              </a:defRPr>
            </a:lvl2pPr>
            <a:lvl3pPr>
              <a:defRPr sz="1950">
                <a:latin typeface="Avenir Book"/>
                <a:ea typeface="Avenir Book"/>
                <a:cs typeface="Avenir Book"/>
                <a:sym typeface="Avenir Book"/>
              </a:defRPr>
            </a:lvl3pPr>
            <a:lvl4pPr>
              <a:defRPr sz="1950">
                <a:latin typeface="Avenir Book"/>
                <a:ea typeface="Avenir Book"/>
                <a:cs typeface="Avenir Book"/>
                <a:sym typeface="Avenir Book"/>
              </a:defRPr>
            </a:lvl4pPr>
            <a:lvl5pPr>
              <a:defRPr sz="1950"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43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6708" y="1600200"/>
            <a:ext cx="108712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05147D-D41D-4F0F-B63B-41E57F4B755A}" type="datetime1">
              <a:rPr lang="en-US"/>
            </a:fld>
            <a:endParaRPr lang="en-US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0" y="6248400"/>
            <a:ext cx="7227278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7401" y="1279525"/>
            <a:ext cx="11404599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7112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 b="1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DCF611-ECDA-45BD-A91F-9516F1B7C864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32764" y="4057015"/>
            <a:ext cx="10871200" cy="990600"/>
          </a:xfrm>
        </p:spPr>
        <p:txBody>
          <a:bodyPr/>
          <a:p>
            <a:r>
              <a:rPr lang="zh-CN" altLang="en-US" sz="1800" b="1"/>
              <a:t>教师：</a:t>
            </a:r>
            <a:br>
              <a:rPr lang="zh-CN" altLang="en-US" sz="1800" b="1"/>
            </a:br>
            <a:r>
              <a:rPr lang="zh-CN" altLang="en-US" sz="1800" b="1"/>
              <a:t>课程</a:t>
            </a:r>
            <a:r>
              <a:rPr lang="en-US" altLang="zh-CN" sz="1800" b="1"/>
              <a:t>QQ</a:t>
            </a:r>
            <a:r>
              <a:rPr lang="zh-CN" altLang="en-US" sz="1800" b="1"/>
              <a:t>群：</a:t>
            </a:r>
            <a:endParaRPr lang="zh-CN" altLang="en-US" sz="1800" b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0000"/>
          </a:bodyPr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  <p:sp>
        <p:nvSpPr>
          <p:cNvPr id="6" name="标题 2"/>
          <p:cNvSpPr>
            <a:spLocks noGrp="1"/>
          </p:cNvSpPr>
          <p:nvPr/>
        </p:nvSpPr>
        <p:spPr>
          <a:xfrm>
            <a:off x="943864" y="2388870"/>
            <a:ext cx="108712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zh-CN" altLang="en-US" b="1"/>
              <a:t>深度学习技术基础与实践课程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深度学习技术基础与实践课程</a:t>
            </a:r>
            <a:endParaRPr lang="zh-CN" altLang="en-US" b="1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课程介绍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目标：掌握深度学习基本内容并应用相关技术。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考核方式：10%签到、20%平时作业、20%小组展示、50%期末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学习资源：课本、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https://d2l.ai/</a:t>
            </a:r>
            <a:r>
              <a:rPr lang="zh-CN" altLang="en-US"/>
              <a:t>等。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小组大作业：在第五周之前分好组；14-16周展示答疑。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展示内容:基于自己专业与所学内容进行交叉实现一个小项目（包括但不限于大模型训练）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0000"/>
          </a:bodyPr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一、人工智能与深度学习导论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16864" y="2121535"/>
            <a:ext cx="10871200" cy="4495800"/>
          </a:xfrm>
        </p:spPr>
        <p:txBody>
          <a:bodyPr/>
          <a:p>
            <a:r>
              <a:rPr lang="zh-CN" altLang="en-US"/>
              <a:t>（</a:t>
            </a:r>
            <a:r>
              <a:rPr lang="zh-CN" altLang="en-US"/>
              <a:t>一）人工智能发展历程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二）</a:t>
            </a:r>
            <a:r>
              <a:rPr lang="zh-CN" altLang="en-US"/>
              <a:t>深度学习基本概念与机器学习的关系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三）</a:t>
            </a:r>
            <a:r>
              <a:rPr lang="zh-CN" altLang="en-US"/>
              <a:t>深度学习分类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四）</a:t>
            </a:r>
            <a:r>
              <a:rPr lang="zh-CN" altLang="en-US"/>
              <a:t>深度学习的应用领域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人工智能发展历程--机器学习的演进史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（一）人工智能发展历程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1、萌芽与奠基 (20世纪40-50年代)：这个阶段主要为</a:t>
            </a:r>
            <a:r>
              <a:rPr lang="en-US" altLang="zh-CN"/>
              <a:t>AI</a:t>
            </a:r>
            <a:r>
              <a:rPr lang="zh-CN" altLang="en-US"/>
              <a:t>的诞生奠定了理论和概念基础。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/>
              <a:t>- 1943年：沃伦·麦卡洛克和沃尔特·皮茨提出了首个</a:t>
            </a:r>
            <a:r>
              <a:rPr lang="zh-CN" altLang="en-US" b="1"/>
              <a:t>神经元的数学模型</a:t>
            </a:r>
            <a:r>
              <a:rPr lang="zh-CN" altLang="en-US"/>
              <a:t>，从理论上</a:t>
            </a:r>
            <a:r>
              <a:rPr lang="zh-CN" altLang="en-US" b="1"/>
              <a:t>描绘了机器模拟人脑运行的可能性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- 1950年：</a:t>
            </a:r>
            <a:r>
              <a:rPr lang="zh-CN" altLang="en-US" b="1"/>
              <a:t>阿兰·图灵发表论文《计算机器与智能》</a:t>
            </a:r>
            <a:r>
              <a:rPr lang="zh-CN" altLang="en-US"/>
              <a:t>，提出著名的“图灵测试”，为判断机器是否具备“智能”提供了标准。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图灵测试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16610" y="1600200"/>
            <a:ext cx="4376420" cy="4495800"/>
          </a:xfrm>
        </p:spPr>
        <p:txBody>
          <a:bodyPr/>
          <a:p>
            <a:r>
              <a:rPr lang="zh-CN" altLang="en-US"/>
              <a:t>艾伦·图灵在其1950年的论文《计算机器与智能》中提出</a:t>
            </a:r>
            <a:endParaRPr lang="zh-CN" altLang="en-US"/>
          </a:p>
          <a:p>
            <a:r>
              <a:rPr lang="zh-CN" altLang="en-US"/>
              <a:t>旨在绕过“何为智能”的哲学争论，通过行为表现来判断机器是否具备人类级智能 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-296" b="5713"/>
          <a:stretch>
            <a:fillRect/>
          </a:stretch>
        </p:blipFill>
        <p:spPr>
          <a:xfrm>
            <a:off x="5193030" y="1651000"/>
            <a:ext cx="6238875" cy="3594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2、第一次黄金时代与寒冬 (1956年-1970年代)：</a:t>
            </a:r>
            <a:r>
              <a:rPr lang="en-US" altLang="zh-CN"/>
              <a:t>AI</a:t>
            </a:r>
            <a:r>
              <a:rPr lang="zh-CN" altLang="en-US"/>
              <a:t>作为一门独立学科正式诞生，并经历了首次热潮与随后的低谷。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 sz="2400"/>
              <a:t>- 1956年：达特茅斯会议召开，“人工智能（</a:t>
            </a:r>
            <a:r>
              <a:rPr lang="en-US" altLang="zh-CN" sz="2400"/>
              <a:t>AI） ”</a:t>
            </a:r>
            <a:r>
              <a:rPr lang="zh-CN" altLang="en-US" sz="2400"/>
              <a:t>这一术语被正式提出，标志着</a:t>
            </a:r>
            <a:r>
              <a:rPr lang="en-US" altLang="zh-CN" sz="2400"/>
              <a:t>AI</a:t>
            </a:r>
            <a:r>
              <a:rPr lang="zh-CN" altLang="en-US" sz="2400"/>
              <a:t>学科的诞生。会上展示了第一个</a:t>
            </a:r>
            <a:r>
              <a:rPr lang="en-US" altLang="zh-CN" sz="2400"/>
              <a:t>AI</a:t>
            </a:r>
            <a:r>
              <a:rPr lang="zh-CN" altLang="en-US" sz="2400"/>
              <a:t>程序“逻辑理论家”。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- 1957年：弗兰克·罗森布拉特发明了</a:t>
            </a:r>
            <a:r>
              <a:rPr lang="zh-CN" altLang="en-US" sz="2400" b="1"/>
              <a:t>感知机</a:t>
            </a:r>
            <a:r>
              <a:rPr lang="zh-CN" altLang="en-US" sz="2400"/>
              <a:t>，这是早期神经网络的雏形。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- “AI</a:t>
            </a:r>
            <a:r>
              <a:rPr lang="zh-CN" altLang="en-US" sz="2400"/>
              <a:t>寒冬”：随后，由于计算能力不足、无法处理复杂问题等原因，研究经费大幅削减，</a:t>
            </a:r>
            <a:r>
              <a:rPr lang="en-US" altLang="zh-CN" sz="2400"/>
              <a:t>AI</a:t>
            </a:r>
            <a:r>
              <a:rPr lang="zh-CN" altLang="en-US" sz="2400"/>
              <a:t>发展陷入第一次低谷。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感知机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sz="quarter" idx="1"/>
          </p:nvPr>
        </p:nvPicPr>
        <p:blipFill>
          <a:blip r:embed="rId1"/>
          <a:srcRect l="5689" t="-513" r="20710" b="513"/>
          <a:stretch>
            <a:fillRect/>
          </a:stretch>
        </p:blipFill>
        <p:spPr>
          <a:xfrm>
            <a:off x="6346190" y="3429000"/>
            <a:ext cx="4526915" cy="136271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41095" y="2983230"/>
            <a:ext cx="3995420" cy="24174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1685" y="1715135"/>
            <a:ext cx="102177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是在1957年</a:t>
            </a:r>
            <a:r>
              <a:rPr lang="en-US" altLang="zh-CN" sz="2400"/>
              <a:t>Cornell</a:t>
            </a:r>
            <a:r>
              <a:rPr lang="zh-CN" altLang="en-US" sz="2400"/>
              <a:t>航空实验室(</a:t>
            </a:r>
            <a:r>
              <a:rPr lang="en-US" altLang="zh-CN" sz="2400"/>
              <a:t>Cornell Aeronautical Laboratory)</a:t>
            </a:r>
            <a:r>
              <a:rPr lang="zh-CN" altLang="en-US" sz="2400"/>
              <a:t>发明的一种人工神经网络。它可以被视为一种最简单形式的</a:t>
            </a:r>
            <a:r>
              <a:rPr lang="zh-CN" altLang="en-US" sz="2400" b="1"/>
              <a:t>前馈式人工神经网络，是一种二元线性分类器。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2330450" y="5513705"/>
            <a:ext cx="2889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感知器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90840" y="5400675"/>
            <a:ext cx="3575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数学</a:t>
            </a:r>
            <a:r>
              <a:rPr lang="zh-CN" altLang="en-US"/>
              <a:t>表达式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3、专家系统时代 (1970年代-1980年代)：</a:t>
            </a:r>
            <a:r>
              <a:rPr lang="en-US" altLang="zh-CN"/>
              <a:t>AI</a:t>
            </a:r>
            <a:r>
              <a:rPr lang="zh-CN" altLang="en-US"/>
              <a:t>的研究方向从追求通用智能转向更加务实的“狭义智能”。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 sz="2800"/>
              <a:t>- 专家系统兴起：如</a:t>
            </a:r>
            <a:r>
              <a:rPr lang="en-US" altLang="zh-CN" sz="2800"/>
              <a:t>DENDRAL（</a:t>
            </a:r>
            <a:r>
              <a:rPr lang="zh-CN" altLang="en-US" sz="2800"/>
              <a:t>用于化学分析）等程序，通过将人类专家的知识编码成规则，在特定领域取得成功。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- 瓶颈出现：但专家系统高度依赖人工编写规则，维护成本高，且无法自我学习，这导致了第二次“</a:t>
            </a:r>
            <a:r>
              <a:rPr lang="en-US" altLang="zh-CN" sz="2800"/>
              <a:t>AI</a:t>
            </a:r>
            <a:r>
              <a:rPr lang="zh-CN" altLang="en-US" sz="2800"/>
              <a:t>寒冬”。</a:t>
            </a:r>
            <a:endParaRPr lang="zh-CN" altLang="en-US" sz="28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4、 机器学习崛起 (1980年代-2000年代)：</a:t>
            </a:r>
            <a:r>
              <a:rPr lang="en-US" altLang="zh-CN"/>
              <a:t>AI</a:t>
            </a:r>
            <a:r>
              <a:rPr lang="zh-CN" altLang="en-US"/>
              <a:t>的研究重心从“规则驱动”转向“数据驱动”。</a:t>
            </a:r>
            <a:endParaRPr lang="zh-CN" altLang="en-US"/>
          </a:p>
          <a:p>
            <a:r>
              <a:rPr lang="zh-CN" altLang="en-US"/>
              <a:t>- 1986年：反向传播算法的提出，解决了多层神经网络的训练难题，极大地推动了神经网络的发展。</a:t>
            </a:r>
            <a:endParaRPr lang="zh-CN" altLang="en-US"/>
          </a:p>
          <a:p>
            <a:r>
              <a:rPr lang="zh-CN" altLang="en-US"/>
              <a:t>- 1997年：</a:t>
            </a:r>
            <a:r>
              <a:rPr lang="en-US" altLang="zh-CN"/>
              <a:t>IBM</a:t>
            </a:r>
            <a:r>
              <a:rPr lang="zh-CN" altLang="en-US"/>
              <a:t>的超级计算机“深蓝” 击败国际象棋世界冠军加里·卡斯帕罗夫，展示了</a:t>
            </a:r>
            <a:r>
              <a:rPr lang="en-US" altLang="zh-CN"/>
              <a:t>AI</a:t>
            </a:r>
            <a:r>
              <a:rPr lang="zh-CN" altLang="en-US"/>
              <a:t>在特定复杂任务上的强大能力。</a:t>
            </a:r>
            <a:endParaRPr lang="zh-CN" altLang="en-US"/>
          </a:p>
          <a:p>
            <a:r>
              <a:rPr lang="zh-CN" altLang="en-US"/>
              <a:t>- 数据驱动：统计学习方法（如支持向量机</a:t>
            </a:r>
            <a:r>
              <a:rPr lang="en-US" altLang="zh-CN"/>
              <a:t>SVM）</a:t>
            </a:r>
            <a:r>
              <a:rPr lang="zh-CN" altLang="en-US"/>
              <a:t>成为主流。同时，互联网的发展带来了海量数据，为</a:t>
            </a:r>
            <a:r>
              <a:rPr lang="en-US" altLang="zh-CN"/>
              <a:t>AI</a:t>
            </a:r>
            <a:r>
              <a:rPr lang="zh-CN" altLang="en-US"/>
              <a:t>的爆发准备了条件。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5、 深度学习革命 (2010年代至今)：得益于大数据、强大的</a:t>
            </a:r>
            <a:r>
              <a:rPr lang="en-US" altLang="zh-CN"/>
              <a:t>GPU</a:t>
            </a:r>
            <a:r>
              <a:rPr lang="zh-CN" altLang="en-US"/>
              <a:t>算力和算法突破，</a:t>
            </a:r>
            <a:r>
              <a:rPr lang="en-US" altLang="zh-CN"/>
              <a:t>AI</a:t>
            </a:r>
            <a:r>
              <a:rPr lang="zh-CN" altLang="en-US"/>
              <a:t>迎来了真正的爆发期。</a:t>
            </a:r>
            <a:endParaRPr lang="zh-CN" altLang="en-US"/>
          </a:p>
          <a:p>
            <a:r>
              <a:rPr lang="zh-CN" altLang="en-US"/>
              <a:t>- 2012年：</a:t>
            </a:r>
            <a:r>
              <a:rPr lang="en-US" altLang="zh-CN"/>
              <a:t>AlexNet</a:t>
            </a:r>
            <a:r>
              <a:rPr lang="zh-CN" altLang="en-US"/>
              <a:t>在</a:t>
            </a:r>
            <a:r>
              <a:rPr lang="en-US" altLang="zh-CN"/>
              <a:t>ImageNet</a:t>
            </a:r>
            <a:r>
              <a:rPr lang="zh-CN" altLang="en-US"/>
              <a:t>图像识别大赛中以巨大优势夺冠，开启了深度学习的时代。</a:t>
            </a:r>
            <a:endParaRPr lang="zh-CN" altLang="en-US"/>
          </a:p>
          <a:p>
            <a:r>
              <a:rPr lang="zh-CN" altLang="en-US"/>
              <a:t>- 2016年：谷歌的</a:t>
            </a:r>
            <a:r>
              <a:rPr lang="en-US" altLang="zh-CN"/>
              <a:t>AlphaGo</a:t>
            </a:r>
            <a:r>
              <a:rPr lang="zh-CN" altLang="en-US"/>
              <a:t>击败世界围棋冠军李世石，震惊世界，引发了全球范围的</a:t>
            </a:r>
            <a:r>
              <a:rPr lang="en-US" altLang="zh-CN"/>
              <a:t>AI</a:t>
            </a:r>
            <a:r>
              <a:rPr lang="zh-CN" altLang="en-US"/>
              <a:t>投资热潮。</a:t>
            </a:r>
            <a:endParaRPr lang="zh-CN" altLang="en-US"/>
          </a:p>
          <a:p>
            <a:r>
              <a:rPr lang="zh-CN" altLang="en-US"/>
              <a:t>- 2017年：谷歌提出</a:t>
            </a:r>
            <a:r>
              <a:rPr lang="en-US" altLang="zh-CN"/>
              <a:t>Transformer</a:t>
            </a:r>
            <a:r>
              <a:rPr lang="zh-CN" altLang="en-US"/>
              <a:t>架构，其核心的自注意力机制成为现代大模型（如</a:t>
            </a:r>
            <a:r>
              <a:rPr lang="en-US" altLang="zh-CN"/>
              <a:t>GPT）</a:t>
            </a:r>
            <a:r>
              <a:rPr lang="zh-CN" altLang="en-US"/>
              <a:t>的基础。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6、 生成式</a:t>
            </a:r>
            <a:r>
              <a:rPr lang="en-US" altLang="zh-CN"/>
              <a:t>AI</a:t>
            </a:r>
            <a:r>
              <a:rPr lang="zh-CN" altLang="en-US"/>
              <a:t>与大模型时代 (2020年代至今)：</a:t>
            </a:r>
            <a:r>
              <a:rPr lang="en-US" altLang="zh-CN"/>
              <a:t>AI</a:t>
            </a:r>
            <a:r>
              <a:rPr lang="zh-CN" altLang="en-US"/>
              <a:t>的能力从“识别”和“判断”跨越到“创造”。</a:t>
            </a:r>
            <a:endParaRPr lang="zh-CN" altLang="en-US"/>
          </a:p>
          <a:p>
            <a:r>
              <a:rPr lang="zh-CN" altLang="en-US"/>
              <a:t>- 基础模型：大规模预训练模型成为主流，展现出强大的通用性和潜力。</a:t>
            </a:r>
            <a:endParaRPr lang="zh-CN" altLang="en-US"/>
          </a:p>
          <a:p>
            <a:r>
              <a:rPr lang="zh-CN" altLang="en-US"/>
              <a:t>- 内容生成：</a:t>
            </a:r>
            <a:r>
              <a:rPr lang="en-US" altLang="zh-CN"/>
              <a:t>AI</a:t>
            </a:r>
            <a:r>
              <a:rPr lang="zh-CN" altLang="en-US"/>
              <a:t>不仅可以进行对话、撰写文档，还能生成图像、视频和程序代码。</a:t>
            </a:r>
            <a:r>
              <a:rPr lang="en-US" altLang="zh-CN"/>
              <a:t>ChatGPT、DeepSeek、Sora</a:t>
            </a:r>
            <a:r>
              <a:rPr lang="zh-CN" altLang="en-US"/>
              <a:t>等应用展示了多种技术可能。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二）深度学习概念与机器学习的关系</a:t>
            </a:r>
            <a:endParaRPr lang="zh-CN" altLang="en-US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、深度学习与机器学习的关系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二者最核心的关系：子集与工具</a:t>
            </a:r>
            <a:endParaRPr lang="zh-CN" altLang="en-US"/>
          </a:p>
          <a:p>
            <a:r>
              <a:rPr lang="zh-CN" altLang="en-US"/>
              <a:t>深度学习是机器学习的一个子集，而机器学习又是人工智能（</a:t>
            </a:r>
            <a:r>
              <a:rPr lang="en-US" altLang="zh-CN"/>
              <a:t>AI）</a:t>
            </a:r>
            <a:r>
              <a:rPr lang="zh-CN" altLang="en-US"/>
              <a:t>的一个子集。</a:t>
            </a:r>
            <a:endParaRPr lang="zh-CN" altLang="en-US"/>
          </a:p>
          <a:p>
            <a:r>
              <a:rPr lang="zh-CN" altLang="en-US"/>
              <a:t>- 机器学习：是一套方法论，让计算机从数据中自动学习规律，而无需人为编写显式的规则（比如不用写“如果股价涨超5%就卖出”这种代码）。</a:t>
            </a:r>
            <a:endParaRPr lang="zh-CN" altLang="en-US"/>
          </a:p>
          <a:p>
            <a:r>
              <a:rPr lang="zh-CN" altLang="en-US"/>
              <a:t>- 深度学习：是机器学习这套方法论中的一种特定技术，它借用了仿生学概念，使用多层人工神经网络（“深度”就是指隐藏层很多）来进行学习。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、深度学习与机器学习的关系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类比：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机器学习是“交通工具”，深度学习是其中的“高铁”。</a:t>
            </a:r>
            <a:endParaRPr lang="zh-CN" altLang="en-US"/>
          </a:p>
          <a:p>
            <a:r>
              <a:rPr lang="zh-CN" altLang="en-US"/>
              <a:t>高铁依然是交通工具，但它依靠特定的轨道（神经网络）和动力系统（</a:t>
            </a:r>
            <a:r>
              <a:rPr lang="en-US" altLang="zh-CN"/>
              <a:t>GPU</a:t>
            </a:r>
            <a:r>
              <a:rPr lang="zh-CN" altLang="en-US"/>
              <a:t>算力），能跑出传统绿皮火车（传统机器学习）难以达到的速度。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2、深度学习的三大基础概念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0000"/>
          </a:bodyPr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30275" y="1782445"/>
            <a:ext cx="10605770" cy="3888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- （1）自动特征工程（表示学习）：传统机器学习需要人工提取特征</a:t>
            </a:r>
            <a:r>
              <a:rPr lang="zh-CN" altLang="en-US" sz="2400"/>
              <a:t>（比如识别猫时要人工设计“胡须长度”、“耳朵形状”的数值）</a:t>
            </a:r>
            <a:r>
              <a:rPr lang="zh-CN" altLang="en-US" sz="2800"/>
              <a:t>。</a:t>
            </a:r>
            <a:endParaRPr lang="zh-CN" altLang="en-US" sz="2800"/>
          </a:p>
          <a:p>
            <a:r>
              <a:rPr lang="zh-CN" altLang="en-US" sz="2800"/>
              <a:t>深度学习则端到端，你把原始像素丢进去，神经网络自己逐层抽象</a:t>
            </a:r>
            <a:r>
              <a:rPr lang="zh-CN" altLang="en-US" sz="2400"/>
              <a:t>（边缘→眼睛→脸）</a:t>
            </a:r>
            <a:r>
              <a:rPr lang="zh-CN" altLang="en-US" sz="2800"/>
              <a:t>，自动找出最佳特征。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- （2）深层架构（多层非线性变换）：通过激活函数</a:t>
            </a:r>
            <a:r>
              <a:rPr lang="zh-CN" altLang="en-US" sz="2400"/>
              <a:t>（如</a:t>
            </a:r>
            <a:r>
              <a:rPr lang="en-US" altLang="zh-CN" sz="2400"/>
              <a:t>ReLU、Sigmoid）</a:t>
            </a:r>
            <a:r>
              <a:rPr lang="zh-CN" altLang="en-US" sz="2800"/>
              <a:t>引入非线性，叠加数十甚至数百层。层数越深，理论上能拟合的函数越复杂。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2、深度学习的三大基础概念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0000"/>
          </a:bodyPr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30275" y="2273935"/>
            <a:ext cx="10605770" cy="3888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- （3）反向传播与梯度下降：这是深度学习的“灵魂”。</a:t>
            </a:r>
            <a:endParaRPr lang="zh-CN" altLang="en-US" sz="2800"/>
          </a:p>
          <a:p>
            <a:r>
              <a:rPr lang="zh-CN" altLang="en-US" sz="2800"/>
              <a:t>通过计算损失函数的梯度，将误差从输出层反向传播回输入层，逐层调整数百万甚至数十亿个参数（权重）。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、深度学习与机器学习的共同点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它们的数学底层是相通的，这也是为什么深度学习仍属于机器学习：</a:t>
            </a:r>
            <a:endParaRPr lang="zh-CN" altLang="en-US"/>
          </a:p>
          <a:p>
            <a:r>
              <a:rPr lang="zh-CN" altLang="en-US"/>
              <a:t>- 都遵循 “训练集 + 验证集 + 测试集” 的评估范式。</a:t>
            </a:r>
            <a:endParaRPr lang="zh-CN" altLang="en-US"/>
          </a:p>
          <a:p>
            <a:r>
              <a:rPr lang="zh-CN" altLang="en-US"/>
              <a:t>- 都面临 过拟合 / 欠拟合 的问题</a:t>
            </a:r>
            <a:r>
              <a:rPr lang="zh-CN" altLang="en-US" sz="2800"/>
              <a:t>（深度学习中用</a:t>
            </a:r>
            <a:r>
              <a:rPr lang="en-US" altLang="zh-CN" sz="2800"/>
              <a:t>Dropout、BatchNorm</a:t>
            </a:r>
            <a:r>
              <a:rPr lang="zh-CN" altLang="en-US" sz="2800"/>
              <a:t>来解决，传统机器学习中用正则化、剪枝）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- 核心目标都是最小化 损失函数。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三）深度学习分类</a:t>
            </a:r>
            <a:endParaRPr lang="zh-CN" altLang="en-US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1、按网络架构划分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 sz="2000"/>
              <a:t>- </a:t>
            </a:r>
            <a:r>
              <a:rPr lang="zh-CN" altLang="en-US" sz="2000" b="1"/>
              <a:t>卷积神经网络</a:t>
            </a:r>
            <a:r>
              <a:rPr lang="zh-CN" altLang="en-US" sz="2000"/>
              <a:t>（</a:t>
            </a:r>
            <a:r>
              <a:rPr lang="en-US" altLang="zh-CN" sz="2000"/>
              <a:t>CNN，Convolutional Neural Network）—— </a:t>
            </a:r>
            <a:r>
              <a:rPr lang="zh-CN" altLang="en-US" sz="2000"/>
              <a:t>视觉感知专家</a:t>
            </a:r>
            <a:endParaRPr lang="zh-CN" altLang="en-US" sz="2000"/>
          </a:p>
          <a:p>
            <a:r>
              <a:rPr lang="zh-CN" altLang="en-US" sz="2000"/>
              <a:t>  - 核心：通过卷积核提取局部特征，具有平移不变性。</a:t>
            </a:r>
            <a:endParaRPr lang="zh-CN" altLang="en-US" sz="2000"/>
          </a:p>
          <a:p>
            <a:r>
              <a:rPr lang="zh-CN" altLang="en-US" sz="2000"/>
              <a:t>  - 代表：</a:t>
            </a:r>
            <a:r>
              <a:rPr lang="en-US" altLang="zh-CN" sz="2000"/>
              <a:t>ResNet、VGG、EfficientNet。</a:t>
            </a:r>
            <a:endParaRPr lang="en-US" altLang="zh-CN" sz="2000"/>
          </a:p>
          <a:p>
            <a:r>
              <a:rPr lang="zh-CN" altLang="en-US" sz="2000"/>
              <a:t>  - 适用：图像分类、目标检测、视频分析。它是处理网格状数据（像素矩阵）的王者。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- </a:t>
            </a:r>
            <a:r>
              <a:rPr lang="zh-CN" altLang="en-US" sz="2000" b="1"/>
              <a:t>循环/递归神经网络</a:t>
            </a:r>
            <a:r>
              <a:rPr lang="zh-CN" altLang="en-US" sz="2000"/>
              <a:t>（</a:t>
            </a:r>
            <a:r>
              <a:rPr lang="en-US" altLang="zh-CN" sz="2000"/>
              <a:t>RNN/LSTM）—— </a:t>
            </a:r>
            <a:r>
              <a:rPr lang="zh-CN" altLang="en-US" sz="2000"/>
              <a:t>序列处理老兵</a:t>
            </a:r>
            <a:endParaRPr lang="zh-CN" altLang="en-US" sz="2000"/>
          </a:p>
          <a:p>
            <a:r>
              <a:rPr lang="zh-CN" altLang="en-US" sz="2000"/>
              <a:t>  - 核心：具有“记忆”功能，按时间步依次处理数据。</a:t>
            </a:r>
            <a:endParaRPr lang="zh-CN" altLang="en-US" sz="2000"/>
          </a:p>
          <a:p>
            <a:r>
              <a:rPr lang="zh-CN" altLang="en-US" sz="2000"/>
              <a:t>  - 代表：</a:t>
            </a:r>
            <a:r>
              <a:rPr lang="en-US" altLang="zh-CN" sz="2000"/>
              <a:t>LSTM、GRU。</a:t>
            </a:r>
            <a:endParaRPr lang="en-US" altLang="zh-CN" sz="2000"/>
          </a:p>
          <a:p>
            <a:r>
              <a:rPr lang="zh-CN" altLang="en-US" sz="2000"/>
              <a:t>  - 适用：语音识别、机器翻译（旧时代）、时间序列预测。</a:t>
            </a:r>
            <a:endParaRPr lang="zh-CN" altLang="en-US" sz="2000"/>
          </a:p>
          <a:p>
            <a:r>
              <a:rPr lang="zh-CN" altLang="en-US" sz="2000"/>
              <a:t>  - 注：由于存在梯度消失和无法并行计算的硬伤，在</a:t>
            </a:r>
            <a:r>
              <a:rPr lang="en-US" altLang="zh-CN" sz="2000"/>
              <a:t>NLP</a:t>
            </a:r>
            <a:r>
              <a:rPr lang="zh-CN" altLang="en-US" sz="2000"/>
              <a:t>领域它已基本被</a:t>
            </a:r>
            <a:r>
              <a:rPr lang="en-US" altLang="zh-CN" sz="2000"/>
              <a:t>Transformer</a:t>
            </a:r>
            <a:r>
              <a:rPr lang="zh-CN" altLang="en-US" sz="2000"/>
              <a:t>取代，但在部分时序预测中仍有应用。</a:t>
            </a:r>
            <a:endParaRPr lang="zh-CN" alt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1、按网络架构划分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zh-CN" sz="2000"/>
              <a:t>- Transformer —— </a:t>
            </a:r>
            <a:r>
              <a:rPr lang="zh-CN" altLang="en-US" sz="2000"/>
              <a:t>当代“万能底座”</a:t>
            </a:r>
            <a:endParaRPr lang="zh-CN" altLang="en-US" sz="2000"/>
          </a:p>
          <a:p>
            <a:r>
              <a:rPr lang="zh-CN" altLang="en-US" sz="2000"/>
              <a:t>  - 核心：基于自注意力机制，能捕捉全局依赖关系，且支持并行计算。</a:t>
            </a:r>
            <a:endParaRPr lang="zh-CN" altLang="en-US" sz="2000"/>
          </a:p>
          <a:p>
            <a:r>
              <a:rPr lang="zh-CN" altLang="en-US" sz="2000"/>
              <a:t>  - 代表：</a:t>
            </a:r>
            <a:r>
              <a:rPr lang="en-US" altLang="zh-CN" sz="2000"/>
              <a:t>BERT、GPT</a:t>
            </a:r>
            <a:r>
              <a:rPr lang="zh-CN" altLang="en-US" sz="2000"/>
              <a:t>系列、</a:t>
            </a:r>
            <a:r>
              <a:rPr lang="en-US" altLang="zh-CN" sz="2000"/>
              <a:t>ViT（</a:t>
            </a:r>
            <a:r>
              <a:rPr lang="zh-CN" altLang="en-US" sz="2000"/>
              <a:t>视觉</a:t>
            </a:r>
            <a:r>
              <a:rPr lang="en-US" altLang="zh-CN" sz="2000"/>
              <a:t>Transformer）。</a:t>
            </a:r>
            <a:endParaRPr lang="en-US" altLang="zh-CN" sz="2000"/>
          </a:p>
          <a:p>
            <a:r>
              <a:rPr lang="zh-CN" altLang="en-US" sz="2000"/>
              <a:t>  - 适用：几乎统治了自然语言处理（</a:t>
            </a:r>
            <a:r>
              <a:rPr lang="en-US" altLang="zh-CN" sz="2000"/>
              <a:t>NLP），</a:t>
            </a:r>
            <a:r>
              <a:rPr lang="zh-CN" altLang="en-US" sz="2000"/>
              <a:t>现在正大规模入侵计算机视觉（</a:t>
            </a:r>
            <a:r>
              <a:rPr lang="en-US" altLang="zh-CN" sz="2000"/>
              <a:t>CV）</a:t>
            </a:r>
            <a:r>
              <a:rPr lang="zh-CN" altLang="en-US" sz="2000"/>
              <a:t>和多模态领域。是目前绝对的主流。</a:t>
            </a:r>
            <a:endParaRPr lang="zh-CN" altLang="en-US" sz="2000"/>
          </a:p>
          <a:p>
            <a:r>
              <a:rPr lang="zh-CN" altLang="en-US" sz="2000"/>
              <a:t>- </a:t>
            </a:r>
            <a:r>
              <a:rPr lang="zh-CN" altLang="en-US" sz="2000" b="1"/>
              <a:t>生成对抗网络</a:t>
            </a:r>
            <a:r>
              <a:rPr lang="zh-CN" altLang="en-US" sz="2000"/>
              <a:t>（</a:t>
            </a:r>
            <a:r>
              <a:rPr lang="en-US" altLang="zh-CN" sz="2000"/>
              <a:t>GAN，Generative Adversarial Network）</a:t>
            </a:r>
            <a:r>
              <a:rPr lang="zh-CN" altLang="en-US" sz="2000"/>
              <a:t>与扩散模型（</a:t>
            </a:r>
            <a:r>
              <a:rPr lang="en-US" altLang="zh-CN" sz="2000"/>
              <a:t>Diffusion）—— </a:t>
            </a:r>
            <a:r>
              <a:rPr lang="zh-CN" altLang="en-US" sz="2000"/>
              <a:t>内容生成专家</a:t>
            </a:r>
            <a:endParaRPr lang="zh-CN" altLang="en-US" sz="2000"/>
          </a:p>
          <a:p>
            <a:r>
              <a:rPr lang="en-US" altLang="zh-CN" sz="2000"/>
              <a:t>  - GAN</a:t>
            </a:r>
            <a:r>
              <a:rPr lang="zh-CN" altLang="en-US" sz="2000"/>
              <a:t>核心：生成器与判别器“左右互搏”，互相内卷以产生逼真数据。</a:t>
            </a:r>
            <a:endParaRPr lang="zh-CN" altLang="en-US" sz="2000"/>
          </a:p>
          <a:p>
            <a:r>
              <a:rPr lang="zh-CN" altLang="en-US" sz="2000"/>
              <a:t>  - 扩散模型核心：通过逐步去噪，从随机噪声中恢复出清晰图像。</a:t>
            </a:r>
            <a:endParaRPr lang="zh-CN" altLang="en-US" sz="2000"/>
          </a:p>
          <a:p>
            <a:r>
              <a:rPr lang="zh-CN" altLang="en-US" sz="2000"/>
              <a:t>  - 代表：</a:t>
            </a:r>
            <a:r>
              <a:rPr lang="en-US" altLang="zh-CN" sz="2000"/>
              <a:t>StyleGAN、Midjourney</a:t>
            </a:r>
            <a:r>
              <a:rPr lang="zh-CN" altLang="en-US" sz="2000"/>
              <a:t>底层架构、</a:t>
            </a:r>
            <a:r>
              <a:rPr lang="en-US" altLang="zh-CN" sz="2000"/>
              <a:t>Stable Diffusion。</a:t>
            </a:r>
            <a:endParaRPr lang="en-US" altLang="zh-CN" sz="2000"/>
          </a:p>
          <a:p>
            <a:r>
              <a:rPr lang="zh-CN" altLang="en-US" sz="2000"/>
              <a:t>  - 适用：图像生成、艺术创作、数据增强。</a:t>
            </a:r>
            <a:endParaRPr lang="zh-CN" alt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6864" y="161925"/>
            <a:ext cx="10871200" cy="990600"/>
          </a:xfrm>
        </p:spPr>
        <p:txBody>
          <a:bodyPr/>
          <a:p>
            <a:r>
              <a:rPr lang="en-US" b="1">
                <a:solidFill>
                  <a:srgbClr val="1C1917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  <a:sym typeface="+mn-ea"/>
              </a:rPr>
              <a:t>CNN、RNN与Transformer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0000"/>
          </a:bodyPr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  <p:sp>
        <p:nvSpPr>
          <p:cNvPr id="7" name="AutoShape 7"/>
          <p:cNvSpPr/>
          <p:nvPr/>
        </p:nvSpPr>
        <p:spPr>
          <a:xfrm>
            <a:off x="457086" y="1933278"/>
            <a:ext cx="3631242" cy="4467522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1933278"/>
            <a:ext cx="3631242" cy="9525"/>
          </a:xfrm>
          <a:prstGeom prst="line">
            <a:avLst/>
          </a:prstGeom>
          <a:ln w="28575">
            <a:solidFill>
              <a:srgbClr val="B45309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599925" y="2104728"/>
            <a:ext cx="334556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C1917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卷积神经网络 CNN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alphaModFix amt="100000"/>
          </a:blip>
          <a:srcRect t="2" b="2"/>
          <a:stretch>
            <a:fillRect/>
          </a:stretch>
        </p:blipFill>
        <p:spPr>
          <a:xfrm>
            <a:off x="599925" y="2385715"/>
            <a:ext cx="3345564" cy="29868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" name="TextBox 11"/>
          <p:cNvSpPr txBox="1"/>
          <p:nvPr/>
        </p:nvSpPr>
        <p:spPr>
          <a:xfrm>
            <a:off x="599925" y="5467797"/>
            <a:ext cx="3488403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通过卷积核提取局部特征，具有平移不变性，是处理网格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状像素数据的王者</a:t>
            </a:r>
            <a:endParaRPr sz="1000" b="0" i="0" strike="noStrike">
              <a:solidFill>
                <a:srgbClr val="1C191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99925" y="5915472"/>
            <a:ext cx="3488403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代表模型 ResNet、VGG、EfficientNet，广泛用于图像分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类与目标检测</a:t>
            </a:r>
            <a:endParaRPr sz="1000" b="0" i="0" strike="noStrike">
              <a:solidFill>
                <a:srgbClr val="1C191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278780" y="1933278"/>
            <a:ext cx="3631242" cy="4467522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278780" y="1933278"/>
            <a:ext cx="3631242" cy="9525"/>
          </a:xfrm>
          <a:prstGeom prst="line">
            <a:avLst/>
          </a:prstGeom>
          <a:ln w="28575">
            <a:solidFill>
              <a:srgbClr val="B45309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4421619" y="2104728"/>
            <a:ext cx="334556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C1917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循环神经网络 RNN/LSTM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4421619" y="2385715"/>
            <a:ext cx="3345564" cy="302612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9" name="TextBox 19"/>
          <p:cNvSpPr txBox="1"/>
          <p:nvPr/>
        </p:nvSpPr>
        <p:spPr>
          <a:xfrm>
            <a:off x="4421619" y="5507087"/>
            <a:ext cx="3488403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具有"记忆"功能按时间步依次处理，适用于语音识别、机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器翻译与时间序列预测</a:t>
            </a:r>
            <a:endParaRPr sz="1000" b="0" i="0" strike="noStrike">
              <a:solidFill>
                <a:srgbClr val="1C191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21619" y="5954762"/>
            <a:ext cx="3488403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存在梯度消失和无法并行计算的硬伤，在NLP领域已基本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被Transformer取代</a:t>
            </a:r>
            <a:endParaRPr sz="1000" b="0" i="0" strike="noStrike">
              <a:solidFill>
                <a:srgbClr val="1C191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100475" y="1933278"/>
            <a:ext cx="3631391" cy="4467522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8100475" y="1933278"/>
            <a:ext cx="3631391" cy="9525"/>
          </a:xfrm>
          <a:prstGeom prst="line">
            <a:avLst/>
          </a:prstGeom>
          <a:ln w="28575">
            <a:solidFill>
              <a:srgbClr val="B45309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8243315" y="2104728"/>
            <a:ext cx="334571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C1917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Transformer 架构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>
            <a:alphaModFix amt="100000"/>
          </a:blip>
          <a:srcRect t="2" b="2"/>
          <a:stretch>
            <a:fillRect/>
          </a:stretch>
        </p:blipFill>
        <p:spPr>
          <a:xfrm>
            <a:off x="8243315" y="2385715"/>
            <a:ext cx="3345712" cy="2486918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7" name="TextBox 27"/>
          <p:cNvSpPr txBox="1"/>
          <p:nvPr/>
        </p:nvSpPr>
        <p:spPr>
          <a:xfrm>
            <a:off x="8243315" y="4967883"/>
            <a:ext cx="3488552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基于自注意力机制捕捉全局依赖，支持并行计算，是当前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绝对的主流架构</a:t>
            </a:r>
            <a:endParaRPr sz="1000" b="0" i="0" strike="noStrike">
              <a:solidFill>
                <a:srgbClr val="1C191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243315" y="5415558"/>
            <a:ext cx="3488552" cy="35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代表模型 BERT、GPT、ViT，统治NLP并正大规模入侵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C191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CV和多模态领域</a:t>
            </a:r>
            <a:endParaRPr sz="1000" b="0" i="0" strike="noStrike">
              <a:solidFill>
                <a:srgbClr val="1C191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1、按网络架构划分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- 图神经网络（</a:t>
            </a:r>
            <a:r>
              <a:rPr lang="en-US" altLang="zh-CN"/>
              <a:t>GNN，Graph Neural Network）—— </a:t>
            </a:r>
            <a:r>
              <a:rPr lang="zh-CN" altLang="en-US"/>
              <a:t>关系推理专家</a:t>
            </a:r>
            <a:endParaRPr lang="zh-CN" altLang="en-US"/>
          </a:p>
          <a:p>
            <a:r>
              <a:rPr lang="zh-CN" altLang="en-US"/>
              <a:t>  - 核心：专门处理非欧几里得数据，在节点之间传递消息。</a:t>
            </a:r>
            <a:endParaRPr lang="zh-CN" altLang="en-US"/>
          </a:p>
          <a:p>
            <a:r>
              <a:rPr lang="zh-CN" altLang="en-US"/>
              <a:t>  - 代表：</a:t>
            </a:r>
            <a:r>
              <a:rPr lang="en-US" altLang="zh-CN"/>
              <a:t>GCN（</a:t>
            </a:r>
            <a:r>
              <a:rPr lang="zh-CN" altLang="en-US"/>
              <a:t>图卷积网络）、</a:t>
            </a:r>
            <a:r>
              <a:rPr lang="en-US" altLang="zh-CN"/>
              <a:t>GAT（</a:t>
            </a:r>
            <a:r>
              <a:rPr lang="zh-CN" altLang="en-US"/>
              <a:t>图注意力网络）。</a:t>
            </a:r>
            <a:endParaRPr lang="zh-CN" altLang="en-US"/>
          </a:p>
          <a:p>
            <a:r>
              <a:rPr lang="zh-CN" altLang="en-US"/>
              <a:t>  - 适用：社交网络分析、分子结构预测、知识图谱。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2、按训练范式划分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 sz="2400"/>
              <a:t>- 监督学习：标准范式，需要大量标注好的“标准答案”（标签）。分类和回归问题都属此类。</a:t>
            </a:r>
            <a:endParaRPr lang="zh-CN" altLang="en-US" sz="2400"/>
          </a:p>
          <a:p>
            <a:r>
              <a:rPr lang="zh-CN" altLang="en-US" sz="2400"/>
              <a:t>- 无监督学习：没有标签，让模型自己找规律。典型的如自编码器（</a:t>
            </a:r>
            <a:r>
              <a:rPr lang="en-US" altLang="zh-CN" sz="2400"/>
              <a:t>AE）</a:t>
            </a:r>
            <a:r>
              <a:rPr lang="zh-CN" altLang="en-US" sz="2400"/>
              <a:t>用于降维，或聚类。</a:t>
            </a:r>
            <a:endParaRPr lang="zh-CN" altLang="en-US" sz="2400"/>
          </a:p>
          <a:p>
            <a:r>
              <a:rPr lang="zh-CN" altLang="en-US" sz="2400"/>
              <a:t>- 自监督学习（</a:t>
            </a:r>
            <a:r>
              <a:rPr lang="en-US" altLang="zh-CN" sz="2400"/>
              <a:t>SSL，Self-Supervised Learning）：</a:t>
            </a:r>
            <a:r>
              <a:rPr lang="zh-CN" altLang="en-US" sz="2400"/>
              <a:t>当前最火的方向。不靠人工标签，而是利用数据本身构造“前置任务”（比如</a:t>
            </a:r>
            <a:r>
              <a:rPr lang="en-US" altLang="zh-CN" sz="2400"/>
              <a:t>GPT</a:t>
            </a:r>
            <a:r>
              <a:rPr lang="zh-CN" altLang="en-US" sz="2400"/>
              <a:t>的“预测下一个词”、</a:t>
            </a:r>
            <a:r>
              <a:rPr lang="en-US" altLang="zh-CN" sz="2400"/>
              <a:t>MAE</a:t>
            </a:r>
            <a:r>
              <a:rPr lang="zh-CN" altLang="en-US" sz="2400"/>
              <a:t>的“遮住图像块再复原”），让模型学到通用的语义知识。</a:t>
            </a:r>
            <a:endParaRPr lang="zh-CN" altLang="en-US" sz="2400"/>
          </a:p>
          <a:p>
            <a:r>
              <a:rPr lang="zh-CN" altLang="en-US" sz="2400"/>
              <a:t>- 强化学习（</a:t>
            </a:r>
            <a:r>
              <a:rPr lang="en-US" altLang="zh-CN" sz="2400"/>
              <a:t>RL，Reinforcement Learning）：</a:t>
            </a:r>
            <a:r>
              <a:rPr lang="zh-CN" altLang="en-US" sz="2400"/>
              <a:t>更接近动物学习，智能体通过与环境交互，根据奖励/惩罚信号不断试错。深度学习加持下的深度强化学习（</a:t>
            </a:r>
            <a:r>
              <a:rPr lang="en-US" altLang="zh-CN" sz="2400"/>
              <a:t>DRL）</a:t>
            </a:r>
            <a:r>
              <a:rPr lang="zh-CN" altLang="en-US" sz="2400"/>
              <a:t>是</a:t>
            </a:r>
            <a:r>
              <a:rPr lang="en-US" altLang="zh-CN" sz="2400"/>
              <a:t>AlphaGo</a:t>
            </a:r>
            <a:r>
              <a:rPr lang="zh-CN" altLang="en-US" sz="2400"/>
              <a:t>和自动驾驶决策层的底层逻辑。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四）深度学习的应用领域</a:t>
            </a:r>
            <a:endParaRPr lang="zh-CN" altLang="en-US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0CB174D1-5542-4EFE-8BF7-AC7E93226472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1、核心技术领域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- 计算机视觉 (</a:t>
            </a:r>
            <a:r>
              <a:rPr lang="en-US" altLang="zh-CN"/>
              <a:t>Computer Vision)：</a:t>
            </a:r>
            <a:r>
              <a:rPr lang="zh-CN" altLang="en-US"/>
              <a:t>让机器“看懂”世界。通过卷积神经网络（</a:t>
            </a:r>
            <a:r>
              <a:rPr lang="en-US" altLang="zh-CN"/>
              <a:t>CNN）</a:t>
            </a:r>
            <a:r>
              <a:rPr lang="zh-CN" altLang="en-US"/>
              <a:t>等模型分析图像和视频。</a:t>
            </a:r>
            <a:endParaRPr lang="zh-CN" altLang="en-US"/>
          </a:p>
          <a:p>
            <a:r>
              <a:rPr lang="zh-CN" altLang="en-US" sz="2400"/>
              <a:t>  - 图像分类与目标检测：识别图像内容并定位物体。应用于安防监控（异常行为检测）、工业质检（产品缺陷识别，某电子厂采用</a:t>
            </a:r>
            <a:r>
              <a:rPr lang="en-US" altLang="zh-CN" sz="2400"/>
              <a:t>YOLOv5</a:t>
            </a:r>
            <a:r>
              <a:rPr lang="zh-CN" altLang="en-US" sz="2400"/>
              <a:t>模型后缺陷检出率从85%提升至99%）、自动驾驶（识别路标、行人）等。</a:t>
            </a:r>
            <a:endParaRPr lang="zh-CN" altLang="en-US" sz="2400"/>
          </a:p>
          <a:p>
            <a:r>
              <a:rPr lang="zh-CN" altLang="en-US" sz="2400"/>
              <a:t>  - 人脸与生物特征识别：用于身份验证。例如，支付级人脸识别错误率已低于0.001%，结合活体检测能有效防范欺诈。</a:t>
            </a:r>
            <a:endParaRPr lang="zh-CN" altLang="en-US" sz="2400"/>
          </a:p>
          <a:p>
            <a:r>
              <a:rPr lang="zh-CN" altLang="en-US" sz="2400"/>
              <a:t>  - 医学影像分析：辅助医生诊断。例如，</a:t>
            </a:r>
            <a:r>
              <a:rPr lang="en-US" altLang="zh-CN" sz="2400"/>
              <a:t>U-Net</a:t>
            </a:r>
            <a:r>
              <a:rPr lang="zh-CN" altLang="en-US" sz="2400"/>
              <a:t>等模型能自动识别</a:t>
            </a:r>
            <a:r>
              <a:rPr lang="en-US" altLang="zh-CN" sz="2400"/>
              <a:t>CT</a:t>
            </a:r>
            <a:r>
              <a:rPr lang="zh-CN" altLang="en-US" sz="2400"/>
              <a:t>或</a:t>
            </a:r>
            <a:r>
              <a:rPr lang="en-US" altLang="zh-CN" sz="2400"/>
              <a:t>X</a:t>
            </a:r>
            <a:r>
              <a:rPr lang="zh-CN" altLang="en-US" sz="2400"/>
              <a:t>光片中的肺结节、早期肿瘤等病变，对糖尿病视网膜病变的检测灵敏度可达94%。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1、核心技术领域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- 自然语言处理 (</a:t>
            </a:r>
            <a:r>
              <a:rPr lang="en-US" altLang="zh-CN"/>
              <a:t>Natural Language Processing, NLP)：</a:t>
            </a:r>
            <a:r>
              <a:rPr lang="zh-CN" altLang="en-US"/>
              <a:t>让机器“理解”人类语言。</a:t>
            </a:r>
            <a:r>
              <a:rPr lang="en-US" altLang="zh-CN"/>
              <a:t>Transformer</a:t>
            </a:r>
            <a:r>
              <a:rPr lang="zh-CN" altLang="en-US"/>
              <a:t>架构的诞生使该领域取得革命性突破。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zh-CN" altLang="en-US" sz="2400"/>
              <a:t> - 文本生成与摘要：自动撰写新闻、诗歌、报告等。有媒体用</a:t>
            </a:r>
            <a:r>
              <a:rPr lang="en-US" altLang="zh-CN" sz="2400"/>
              <a:t>GPT-3.5</a:t>
            </a:r>
            <a:r>
              <a:rPr lang="zh-CN" altLang="en-US" sz="2400"/>
              <a:t>生成体育快讯后，效率提升了5倍。</a:t>
            </a:r>
            <a:endParaRPr lang="zh-CN" altLang="en-US" sz="2400"/>
          </a:p>
          <a:p>
            <a:r>
              <a:rPr lang="zh-CN" altLang="en-US" sz="2400"/>
              <a:t>  - 机器翻译：实现不同语言间的自动互译。谷歌翻译等系统已支持100多种语言的互译。</a:t>
            </a:r>
            <a:endParaRPr lang="zh-CN" altLang="en-US" sz="2400"/>
          </a:p>
          <a:p>
            <a:r>
              <a:rPr lang="zh-CN" altLang="en-US" sz="2400"/>
              <a:t>  - 情感分析与舆情监控：分析文本情绪，用于市场洞察和舆情预警。有政府机构通过分析社交媒体，实现了82% 的群体性事件预警准确率。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1、核心技术领域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- 语音识别 (</a:t>
            </a:r>
            <a:r>
              <a:rPr lang="en-US" altLang="zh-CN">
                <a:sym typeface="+mn-ea"/>
              </a:rPr>
              <a:t>Speech Recognition)：</a:t>
            </a:r>
            <a:r>
              <a:rPr lang="zh-CN" altLang="en-US">
                <a:sym typeface="+mn-ea"/>
              </a:rPr>
              <a:t>让机器“听懂”人类语音。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  - 将语音实时转为文本，应用于智能语音助手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会议自动记录、为视频生成字幕等场景。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- 推荐引擎 (</a:t>
            </a:r>
            <a:r>
              <a:rPr lang="en-US" altLang="zh-CN">
                <a:sym typeface="+mn-ea"/>
              </a:rPr>
              <a:t>Recommendation Engine)：</a:t>
            </a:r>
            <a:r>
              <a:rPr lang="zh-CN" altLang="en-US">
                <a:sym typeface="+mn-ea"/>
              </a:rPr>
              <a:t>从海量信息中“发掘”用户偏好。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  - 通过分析用户行为数据提供个性化推荐。抖音等平台都依赖它来推荐你可能感兴趣的视频或商品。</a:t>
            </a:r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、垂直行业应用：深度学习全面应用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 sz="2400"/>
              <a:t>- 医疗健康：除了影像分析，还用于基因测序与药物研发，极大加速了新药 </a:t>
            </a:r>
            <a:r>
              <a:rPr lang="en-US" altLang="zh-CN" sz="2400"/>
              <a:t>discovery </a:t>
            </a:r>
            <a:r>
              <a:rPr lang="zh-CN" altLang="en-US" sz="2400"/>
              <a:t>的进程。</a:t>
            </a:r>
            <a:endParaRPr lang="zh-CN" altLang="en-US" sz="2400"/>
          </a:p>
          <a:p>
            <a:r>
              <a:rPr lang="zh-CN" altLang="en-US" sz="2400"/>
              <a:t>- 自动驾驶：作为核心技术，负责环境感知（识别车道、车辆、行人）、路径规划和驾驶决策。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0000"/>
          </a:bodyPr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  <p:pic>
        <p:nvPicPr>
          <p:cNvPr id="5" name="Picture 15"/>
          <p:cNvPicPr>
            <a:picLocks noChangeAspect="1"/>
          </p:cNvPicPr>
          <p:nvPr/>
        </p:nvPicPr>
        <p:blipFill>
          <a:blip r:embed="rId1">
            <a:alphaModFix amt="100000"/>
          </a:blip>
          <a:srcRect t="24546" b="24546"/>
          <a:stretch>
            <a:fillRect/>
          </a:stretch>
        </p:blipFill>
        <p:spPr>
          <a:xfrm>
            <a:off x="2089785" y="3354070"/>
            <a:ext cx="8325485" cy="2827655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、垂直行业应用：深度学习全面应用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 sz="2400"/>
              <a:t>- 金融服务：用于欺诈检测、信用风险评估和高频交易，提升风控与交易效率。</a:t>
            </a:r>
            <a:endParaRPr lang="zh-CN" altLang="en-US" sz="2400"/>
          </a:p>
          <a:p>
            <a:r>
              <a:rPr lang="zh-CN" altLang="en-US" sz="2400"/>
              <a:t>- 工业制造：用于预测性维护（通过分析设备数据预测故障）和产品质量检测。</a:t>
            </a:r>
            <a:endParaRPr lang="zh-CN" altLang="en-US" sz="2400"/>
          </a:p>
          <a:p>
            <a:r>
              <a:rPr lang="zh-CN" altLang="en-US" sz="2400"/>
              <a:t>- 智慧城市：应用于交通流量预测、公共安全（智能安防）和城市管理等领域。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3、 前沿趋势：生成式人工智能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zh-CN" altLang="en-US"/>
              <a:t>- 文本生成：如大语言模型</a:t>
            </a:r>
            <a:r>
              <a:rPr lang="en-US" altLang="zh-CN"/>
              <a:t>ChatGPT，</a:t>
            </a:r>
            <a:r>
              <a:rPr lang="zh-CN" altLang="en-US"/>
              <a:t>能写文章、诗歌、代码。</a:t>
            </a:r>
            <a:endParaRPr lang="zh-CN" altLang="en-US"/>
          </a:p>
          <a:p>
            <a:r>
              <a:rPr lang="zh-CN" altLang="en-US"/>
              <a:t>- 图像/视频生成：如</a:t>
            </a:r>
            <a:r>
              <a:rPr lang="en-US" altLang="zh-CN"/>
              <a:t>Stable Diffusion、Sora，</a:t>
            </a:r>
            <a:r>
              <a:rPr lang="zh-CN" altLang="en-US"/>
              <a:t>能根据文字描述生成逼真的图片或视频。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- 代码生成：如</a:t>
            </a:r>
            <a:r>
              <a:rPr lang="en-US" altLang="zh-CN"/>
              <a:t>GitHub Copilot，</a:t>
            </a:r>
            <a:r>
              <a:rPr lang="zh-CN" altLang="en-US"/>
              <a:t>能根据注释或上下文自动生成代码。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A84F221-5644-4121-81C1-B6E3D4DB0B79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275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5" baseType="lpstr">
      <vt:lpstr>Arial</vt:lpstr>
      <vt:lpstr>宋体</vt:lpstr>
      <vt:lpstr>Wingdings</vt:lpstr>
      <vt:lpstr>Tw Cen MT</vt:lpstr>
      <vt:lpstr>Segoe Print</vt:lpstr>
      <vt:lpstr>Wingdings 2</vt:lpstr>
      <vt:lpstr>Wingdings</vt:lpstr>
      <vt:lpstr>Avenir Book</vt:lpstr>
      <vt:lpstr>Microsoft YaHei UI</vt:lpstr>
      <vt:lpstr>Helvetica Neue Medium</vt:lpstr>
      <vt:lpstr>黑体</vt:lpstr>
      <vt:lpstr>华文仿宋</vt:lpstr>
      <vt:lpstr>微软雅黑</vt:lpstr>
      <vt:lpstr>Arial Unicode MS</vt:lpstr>
      <vt:lpstr>Calibri</vt:lpstr>
      <vt:lpstr>Avenir Book</vt:lpstr>
      <vt:lpstr>Helvetica Neue Medium</vt:lpstr>
      <vt:lpstr>Arial</vt:lpstr>
      <vt:lpstr>FZYaYiHei GB18030L2 R</vt:lpstr>
      <vt:lpstr>Source Han Serif CN</vt:lpstr>
      <vt:lpstr>Inter</vt:lpstr>
      <vt:lpstr>KSOF8E3FA593</vt:lpstr>
      <vt:lpstr>Yu Gothic UI Semibold</vt:lpstr>
      <vt:lpstr>Median</vt:lpstr>
      <vt:lpstr>教师： 课程QQ群：</vt:lpstr>
      <vt:lpstr>深度学习技术基础与实践课程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（一）人工智能发展历程</vt:lpstr>
      <vt:lpstr>PowerPoint 演示文稿</vt:lpstr>
      <vt:lpstr>1、深度学习与机器学习的关系</vt:lpstr>
      <vt:lpstr>PowerPoint 演示文稿</vt:lpstr>
      <vt:lpstr>2、深度学习的三大基础概念</vt:lpstr>
      <vt:lpstr>1、深度学习与机器学习的关系</vt:lpstr>
      <vt:lpstr>（二）深度学习概念与机器学习的关系</vt:lpstr>
      <vt:lpstr>PowerPoint 演示文稿</vt:lpstr>
      <vt:lpstr>1、按网络架构划分</vt:lpstr>
      <vt:lpstr>PowerPoint 演示文稿</vt:lpstr>
      <vt:lpstr>PowerPoint 演示文稿</vt:lpstr>
      <vt:lpstr>PowerPoint 演示文稿</vt:lpstr>
      <vt:lpstr>（三）深度学习分类</vt:lpstr>
      <vt:lpstr>PowerPoint 演示文稿</vt:lpstr>
      <vt:lpstr>PowerPoint 演示文稿</vt:lpstr>
      <vt:lpstr>1、核心技术领域</vt:lpstr>
      <vt:lpstr>PowerPoint 演示文稿</vt:lpstr>
      <vt:lpstr>2、垂直行业应用：深度学习全面应用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 何</dc:creator>
  <cp:lastModifiedBy>微信用户</cp:lastModifiedBy>
  <cp:revision>10</cp:revision>
  <dcterms:created xsi:type="dcterms:W3CDTF">2025-11-25T15:16:00Z</dcterms:created>
  <dcterms:modified xsi:type="dcterms:W3CDTF">2026-07-14T07:49:53Z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34155C5C04824DCE9CC69C876876F909_12</vt:lpwstr>
  </property>
</Properties>
</file>